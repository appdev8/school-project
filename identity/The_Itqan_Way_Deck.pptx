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4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920240"/>
            <a:ext cx="4754880" cy="4754880"/>
          </a:xfrm>
          <a:prstGeom prst="ellipse">
            <a:avLst/>
          </a:prstGeom>
          <a:solidFill>
            <a:srgbClr val="6C7D3C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3566160"/>
            <a:ext cx="4206240" cy="4206240"/>
          </a:xfrm>
          <a:prstGeom prst="ellipse">
            <a:avLst/>
          </a:prstGeom>
          <a:solidFill>
            <a:srgbClr val="9A7B4F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25880"/>
            <a:ext cx="914400" cy="914400"/>
          </a:xfrm>
          <a:prstGeom prst="ellipse">
            <a:avLst/>
          </a:prstGeom>
          <a:solidFill>
            <a:srgbClr val="9A7B4F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1563624"/>
            <a:ext cx="438912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4688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7D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ITQAN WAY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48640" y="28803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Vision to a Working School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548640" y="4069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7DE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Islamic secondary school  ·  Stages 4–6  ·  Sydney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48640" y="4572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D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knowledge, action and faith are one journey — excellence as worship.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48640" y="5212080"/>
            <a:ext cx="2926080" cy="0"/>
          </a:xfrm>
          <a:prstGeom prst="line">
            <a:avLst/>
          </a:prstGeom>
          <a:noFill/>
          <a:ln w="25400">
            <a:solidFill>
              <a:srgbClr val="9A7B4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53949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Khaled Altarawneh</a:t>
            </a:r>
            <a:pPr indent="0" marL="0">
              <a:buNone/>
            </a:pPr>
            <a:r>
              <a:rPr lang="en-US" sz="1500" dirty="0">
                <a:solidFill>
                  <a:srgbClr val="C9D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Head of School (Founding Appointment)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A7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CONVICTION · ONE JOURNEY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1109441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dirty="0">
                <a:solidFill>
                  <a:srgbClr val="1F24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school is an </a:t>
            </a:r>
            <a:pPr indent="0" marL="0">
              <a:lnSpc>
                <a:spcPct val="105000"/>
              </a:lnSpc>
              <a:buNone/>
            </a:pPr>
            <a:r>
              <a:rPr lang="en-US" sz="3200" b="1" i="1" dirty="0">
                <a:solidFill>
                  <a:srgbClr val="2F4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Amanah</a:t>
            </a:r>
            <a:pPr indent="0" marL="0">
              <a:lnSpc>
                <a:spcPct val="105000"/>
              </a:lnSpc>
              <a:buNone/>
            </a:pPr>
            <a:r>
              <a:rPr lang="en-US" sz="3200" dirty="0">
                <a:solidFill>
                  <a:srgbClr val="1F24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a trust — honoured through </a:t>
            </a:r>
            <a:pPr indent="0" marL="0">
              <a:lnSpc>
                <a:spcPct val="105000"/>
              </a:lnSpc>
              <a:buNone/>
            </a:pPr>
            <a:r>
              <a:rPr lang="en-US" sz="3200" b="1" i="1" dirty="0">
                <a:solidFill>
                  <a:srgbClr val="2F4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Itqan</a:t>
            </a:r>
            <a:pPr indent="0" marL="0">
              <a:lnSpc>
                <a:spcPct val="105000"/>
              </a:lnSpc>
              <a:buNone/>
            </a:pPr>
            <a:r>
              <a:rPr lang="en-US" sz="3200" dirty="0">
                <a:solidFill>
                  <a:srgbClr val="1F24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 mastery in the real craft of learning.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3429000"/>
            <a:ext cx="8778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6B7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(‘ilm), action (‘amal) and character (iman) are one journey, not three subjects — joined by the pursuit of excellence as worship. Rigorous because of the tradition; registrable because assurance is built in from day one.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5074920"/>
            <a:ext cx="34747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8D2C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5074920"/>
            <a:ext cx="82296" cy="1051560"/>
          </a:xfrm>
          <a:prstGeom prst="rect">
            <a:avLst/>
          </a:prstGeom>
          <a:solidFill>
            <a:srgbClr val="2F4A3C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523036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2F4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Manhal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565099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 — the wellspring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51960" y="5074920"/>
            <a:ext cx="34747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8D2C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51960" y="5074920"/>
            <a:ext cx="82296" cy="1051560"/>
          </a:xfrm>
          <a:prstGeom prst="rect">
            <a:avLst/>
          </a:prstGeom>
          <a:solidFill>
            <a:srgbClr val="6C7D3C"/>
          </a:solidFill>
          <a:ln/>
        </p:spPr>
      </p:sp>
      <p:sp>
        <p:nvSpPr>
          <p:cNvPr id="11" name="Text 9"/>
          <p:cNvSpPr/>
          <p:nvPr/>
        </p:nvSpPr>
        <p:spPr>
          <a:xfrm>
            <a:off x="4526280" y="523036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6C7D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’Amal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26280" y="565099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 — knowledge into action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955280" y="5074920"/>
            <a:ext cx="34747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8D2C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955280" y="5074920"/>
            <a:ext cx="82296" cy="1051560"/>
          </a:xfrm>
          <a:prstGeom prst="rect">
            <a:avLst/>
          </a:prstGeom>
          <a:solidFill>
            <a:srgbClr val="9A7B4F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0" y="523036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9A7B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Athar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229600" y="565099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— the evidence we leave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Itqan Way  ·  Founding Blueprint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A7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4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interlocking layers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567864" cy="3931920"/>
          </a:xfrm>
          <a:prstGeom prst="roundRect">
            <a:avLst>
              <a:gd name="adj" fmla="val 3561"/>
            </a:avLst>
          </a:prstGeom>
          <a:solidFill>
            <a:srgbClr val="F1F3EE"/>
          </a:solidFill>
          <a:ln w="12700">
            <a:solidFill>
              <a:srgbClr val="D8D2C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29652" y="2148840"/>
            <a:ext cx="1005840" cy="1005840"/>
          </a:xfrm>
          <a:prstGeom prst="ellipse">
            <a:avLst/>
          </a:prstGeom>
          <a:solidFill>
            <a:srgbClr val="2F4A3C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1170" y="2410358"/>
            <a:ext cx="482803" cy="48280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3337560"/>
            <a:ext cx="2293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F4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Manhal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777240" y="3886200"/>
            <a:ext cx="21106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wellspring. Every NESA outcome as a self-paced, mastery-gated node — study on demand.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3390824" y="1828800"/>
            <a:ext cx="2567864" cy="3931920"/>
          </a:xfrm>
          <a:prstGeom prst="roundRect">
            <a:avLst>
              <a:gd name="adj" fmla="val 3561"/>
            </a:avLst>
          </a:prstGeom>
          <a:solidFill>
            <a:srgbClr val="F1F3EE"/>
          </a:solidFill>
          <a:ln w="12700">
            <a:solidFill>
              <a:srgbClr val="D8D2C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171836" y="2148840"/>
            <a:ext cx="1005840" cy="1005840"/>
          </a:xfrm>
          <a:prstGeom prst="ellipse">
            <a:avLst/>
          </a:prstGeom>
          <a:solidFill>
            <a:srgbClr val="6C7D3C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3354" y="2410358"/>
            <a:ext cx="482803" cy="48280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27984" y="3337560"/>
            <a:ext cx="2293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6C7D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’Amal Projects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3619424" y="3886200"/>
            <a:ext cx="21106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knowledge becomes action. One real, interdisciplinary project a term, co-designed with mentors.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33008" y="1828800"/>
            <a:ext cx="2567864" cy="3931920"/>
          </a:xfrm>
          <a:prstGeom prst="roundRect">
            <a:avLst>
              <a:gd name="adj" fmla="val 3561"/>
            </a:avLst>
          </a:prstGeom>
          <a:solidFill>
            <a:srgbClr val="F1F3EE"/>
          </a:solidFill>
          <a:ln w="12700">
            <a:solidFill>
              <a:srgbClr val="D8D2C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014020" y="2148840"/>
            <a:ext cx="1005840" cy="1005840"/>
          </a:xfrm>
          <a:prstGeom prst="ellipse">
            <a:avLst/>
          </a:prstGeom>
          <a:solidFill>
            <a:srgbClr val="9A7B4F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5538" y="2410358"/>
            <a:ext cx="482803" cy="48280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70168" y="3337560"/>
            <a:ext cx="2293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9A7B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Kitab Maftuh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6461608" y="3886200"/>
            <a:ext cx="21106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world as an open book. Studios, mosques, councils and workplaces as real learning sites.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9075191" y="1828800"/>
            <a:ext cx="2567864" cy="3931920"/>
          </a:xfrm>
          <a:prstGeom prst="roundRect">
            <a:avLst>
              <a:gd name="adj" fmla="val 3561"/>
            </a:avLst>
          </a:prstGeom>
          <a:solidFill>
            <a:srgbClr val="F1F3EE"/>
          </a:solidFill>
          <a:ln w="12700">
            <a:solidFill>
              <a:srgbClr val="D8D2C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856203" y="2148840"/>
            <a:ext cx="1005840" cy="1005840"/>
          </a:xfrm>
          <a:prstGeom prst="ellipse">
            <a:avLst/>
          </a:prstGeom>
          <a:solidFill>
            <a:srgbClr val="B26540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7722" y="2410358"/>
            <a:ext cx="482803" cy="48280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212351" y="3337560"/>
            <a:ext cx="2293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B26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Athar Portfolio</a:t>
            </a:r>
            <a:endParaRPr lang="en-US" sz="1900" dirty="0"/>
          </a:p>
        </p:txBody>
      </p:sp>
      <p:sp>
        <p:nvSpPr>
          <p:cNvPr id="23" name="Text 17"/>
          <p:cNvSpPr/>
          <p:nvPr/>
        </p:nvSpPr>
        <p:spPr>
          <a:xfrm>
            <a:off x="9303791" y="3886200"/>
            <a:ext cx="21106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evidence. Application, reflection and contribution — the inspector’s cleanest audit trail.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Itqan Way  ·  Founding Blueprint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A7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DAY IN THE LIFE  ·  TALAB · SEEK (YEAR 7–8)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4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Aisha — routine, relationship, mastery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4415" cy="566928"/>
          </a:xfrm>
          <a:prstGeom prst="roundRect">
            <a:avLst>
              <a:gd name="adj" fmla="val 50000"/>
            </a:avLst>
          </a:prstGeom>
          <a:solidFill>
            <a:srgbClr val="2F4A3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00200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Aisha, Year 7</a:t>
            </a:r>
            <a:pPr indent="0" marL="0">
              <a:buNone/>
            </a:pPr>
            <a:r>
              <a:rPr lang="en-US" sz="1500" dirty="0">
                <a:solidFill>
                  <a:srgbClr val="D7DE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highest structure, mostly face-to-face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423160"/>
            <a:ext cx="2014057" cy="3246120"/>
          </a:xfrm>
          <a:prstGeom prst="roundRect">
            <a:avLst>
              <a:gd name="adj" fmla="val 4086"/>
            </a:avLst>
          </a:prstGeom>
          <a:solidFill>
            <a:srgbClr val="FFFFFF"/>
          </a:solidFill>
          <a:ln w="12700">
            <a:solidFill>
              <a:srgbClr val="D8D2C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171621" y="2697480"/>
            <a:ext cx="768096" cy="768096"/>
          </a:xfrm>
          <a:prstGeom prst="ellipse">
            <a:avLst/>
          </a:prstGeom>
          <a:solidFill>
            <a:srgbClr val="2F4A3C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326" y="2897185"/>
            <a:ext cx="368686" cy="36868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3566160"/>
            <a:ext cx="183117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9A7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58368" y="3867912"/>
            <a:ext cx="179460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4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Usrah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85800" y="4434840"/>
            <a:ext cx="1739737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Spiritual anchor + the day’s plan with her Murabbi.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2818729" y="2423160"/>
            <a:ext cx="2014057" cy="3246120"/>
          </a:xfrm>
          <a:prstGeom prst="roundRect">
            <a:avLst>
              <a:gd name="adj" fmla="val 4086"/>
            </a:avLst>
          </a:prstGeom>
          <a:solidFill>
            <a:srgbClr val="FFFFFF"/>
          </a:solidFill>
          <a:ln w="12700">
            <a:solidFill>
              <a:srgbClr val="D8D2C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441710" y="2697480"/>
            <a:ext cx="768096" cy="768096"/>
          </a:xfrm>
          <a:prstGeom prst="ellipse">
            <a:avLst/>
          </a:prstGeom>
          <a:solidFill>
            <a:srgbClr val="2F4A3C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1415" y="2897185"/>
            <a:ext cx="368686" cy="36868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910169" y="3566160"/>
            <a:ext cx="183117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9A7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MID-MORNING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2928457" y="3867912"/>
            <a:ext cx="179460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4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Knowledge sprint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2955889" y="4434840"/>
            <a:ext cx="1739737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Guide teaches ratio &amp; proportion — her project needs it.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5088819" y="2423160"/>
            <a:ext cx="2014057" cy="3246120"/>
          </a:xfrm>
          <a:prstGeom prst="roundRect">
            <a:avLst>
              <a:gd name="adj" fmla="val 4086"/>
            </a:avLst>
          </a:prstGeom>
          <a:solidFill>
            <a:srgbClr val="FFFFFF"/>
          </a:solidFill>
          <a:ln w="12700">
            <a:solidFill>
              <a:srgbClr val="D8D2C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711800" y="2697480"/>
            <a:ext cx="768096" cy="768096"/>
          </a:xfrm>
          <a:prstGeom prst="ellipse">
            <a:avLst/>
          </a:prstGeom>
          <a:solidFill>
            <a:srgbClr val="2F4A3C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1505" y="2897185"/>
            <a:ext cx="368686" cy="36868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180259" y="3566160"/>
            <a:ext cx="183117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9A7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2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5198547" y="3867912"/>
            <a:ext cx="179460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4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Self-paced Manhal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5225979" y="4434840"/>
            <a:ext cx="1739737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Masters two nodes; coach checks at each gate.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7358908" y="2423160"/>
            <a:ext cx="2014057" cy="3246120"/>
          </a:xfrm>
          <a:prstGeom prst="roundRect">
            <a:avLst>
              <a:gd name="adj" fmla="val 4086"/>
            </a:avLst>
          </a:prstGeom>
          <a:solidFill>
            <a:srgbClr val="FFFFFF"/>
          </a:solidFill>
          <a:ln w="12700">
            <a:solidFill>
              <a:srgbClr val="D8D2C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7981889" y="2697480"/>
            <a:ext cx="768096" cy="768096"/>
          </a:xfrm>
          <a:prstGeom prst="ellipse">
            <a:avLst/>
          </a:prstGeom>
          <a:solidFill>
            <a:srgbClr val="6C7D3C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1594" y="2897185"/>
            <a:ext cx="368686" cy="368686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450348" y="3566160"/>
            <a:ext cx="183117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9A7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AFTERNOON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7468636" y="3867912"/>
            <a:ext cx="179460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4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’Amal studio</a:t>
            </a:r>
            <a:endParaRPr lang="en-US" sz="1500" dirty="0"/>
          </a:p>
        </p:txBody>
      </p:sp>
      <p:sp>
        <p:nvSpPr>
          <p:cNvPr id="29" name="Text 23"/>
          <p:cNvSpPr/>
          <p:nvPr/>
        </p:nvSpPr>
        <p:spPr>
          <a:xfrm>
            <a:off x="7496068" y="4434840"/>
            <a:ext cx="1739737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a fair water-roster for the school garden with peers.</a:t>
            </a:r>
            <a:endParaRPr lang="en-US" sz="1150" dirty="0"/>
          </a:p>
        </p:txBody>
      </p:sp>
      <p:sp>
        <p:nvSpPr>
          <p:cNvPr id="30" name="Shape 24"/>
          <p:cNvSpPr/>
          <p:nvPr/>
        </p:nvSpPr>
        <p:spPr>
          <a:xfrm>
            <a:off x="9628998" y="2423160"/>
            <a:ext cx="2014057" cy="3246120"/>
          </a:xfrm>
          <a:prstGeom prst="roundRect">
            <a:avLst>
              <a:gd name="adj" fmla="val 4086"/>
            </a:avLst>
          </a:prstGeom>
          <a:solidFill>
            <a:srgbClr val="FFFFFF"/>
          </a:solidFill>
          <a:ln w="12700">
            <a:solidFill>
              <a:srgbClr val="D8D2C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10251978" y="2697480"/>
            <a:ext cx="768096" cy="768096"/>
          </a:xfrm>
          <a:prstGeom prst="ellipse">
            <a:avLst/>
          </a:prstGeom>
          <a:solidFill>
            <a:srgbClr val="2F4A3C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51683" y="2897185"/>
            <a:ext cx="368686" cy="368686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9720438" y="3566160"/>
            <a:ext cx="183117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9A7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</a:t>
            </a:r>
            <a:endParaRPr lang="en-US" sz="1100" dirty="0"/>
          </a:p>
        </p:txBody>
      </p:sp>
      <p:sp>
        <p:nvSpPr>
          <p:cNvPr id="34" name="Text 27"/>
          <p:cNvSpPr/>
          <p:nvPr/>
        </p:nvSpPr>
        <p:spPr>
          <a:xfrm>
            <a:off x="9738726" y="3867912"/>
            <a:ext cx="179460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4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Reflect to Athar</a:t>
            </a:r>
            <a:endParaRPr lang="en-US" sz="1500" dirty="0"/>
          </a:p>
        </p:txBody>
      </p:sp>
      <p:sp>
        <p:nvSpPr>
          <p:cNvPr id="35" name="Text 28"/>
          <p:cNvSpPr/>
          <p:nvPr/>
        </p:nvSpPr>
        <p:spPr>
          <a:xfrm>
            <a:off x="9766158" y="4434840"/>
            <a:ext cx="1739737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a short reflection to her portfolio.</a:t>
            </a:r>
            <a:endParaRPr lang="en-US" sz="1150" dirty="0"/>
          </a:p>
        </p:txBody>
      </p:sp>
      <p:sp>
        <p:nvSpPr>
          <p:cNvPr id="36" name="Shape 29"/>
          <p:cNvSpPr/>
          <p:nvPr/>
        </p:nvSpPr>
        <p:spPr>
          <a:xfrm>
            <a:off x="548640" y="5897880"/>
            <a:ext cx="11094415" cy="548640"/>
          </a:xfrm>
          <a:prstGeom prst="roundRect">
            <a:avLst>
              <a:gd name="adj" fmla="val 13333"/>
            </a:avLst>
          </a:prstGeom>
          <a:solidFill>
            <a:srgbClr val="EFE7D7"/>
          </a:solidFill>
          <a:ln/>
        </p:spPr>
      </p:sp>
      <p:sp>
        <p:nvSpPr>
          <p:cNvPr id="37" name="Text 30"/>
          <p:cNvSpPr/>
          <p:nvPr/>
        </p:nvSpPr>
        <p:spPr>
          <a:xfrm>
            <a:off x="822960" y="5897880"/>
            <a:ext cx="105457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A7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  </a:t>
            </a:r>
            <a:pPr indent="0" marL="0">
              <a:buNone/>
            </a:pPr>
            <a:r>
              <a:rPr lang="en-US" sz="1350" i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a fortnightly Kitab Maftuh community visit. Nothing is busywork — every task builds or proves knowledge.</a:t>
            </a:r>
            <a:endParaRPr lang="en-US" sz="1350" dirty="0"/>
          </a:p>
        </p:txBody>
      </p:sp>
      <p:sp>
        <p:nvSpPr>
          <p:cNvPr id="38" name="Text 31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Itqan Way  ·  Founding Blueprint</a:t>
            </a:r>
            <a:endParaRPr lang="en-US" sz="900" dirty="0"/>
          </a:p>
        </p:txBody>
      </p:sp>
      <p:sp>
        <p:nvSpPr>
          <p:cNvPr id="39" name="Text 32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A7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DAY IN THE LIFE  ·  TAFAQQUH · DEEPEN (YEAR 9–10)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4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Yusuf — depth, independence, first mentors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4415" cy="566928"/>
          </a:xfrm>
          <a:prstGeom prst="roundRect">
            <a:avLst>
              <a:gd name="adj" fmla="val 50000"/>
            </a:avLst>
          </a:prstGeom>
          <a:solidFill>
            <a:srgbClr val="2F4A3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00200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Yusuf, Year 10</a:t>
            </a:r>
            <a:pPr indent="0" marL="0">
              <a:buNone/>
            </a:pPr>
            <a:r>
              <a:rPr lang="en-US" sz="1500" dirty="0">
                <a:solidFill>
                  <a:srgbClr val="D7DE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more independence, deeper discipline, RoSA evidence building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423160"/>
            <a:ext cx="2014057" cy="3246120"/>
          </a:xfrm>
          <a:prstGeom prst="roundRect">
            <a:avLst>
              <a:gd name="adj" fmla="val 4086"/>
            </a:avLst>
          </a:prstGeom>
          <a:solidFill>
            <a:srgbClr val="FFFFFF"/>
          </a:solidFill>
          <a:ln w="12700">
            <a:solidFill>
              <a:srgbClr val="D8D2C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171621" y="2697480"/>
            <a:ext cx="768096" cy="768096"/>
          </a:xfrm>
          <a:prstGeom prst="ellipse">
            <a:avLst/>
          </a:prstGeom>
          <a:solidFill>
            <a:srgbClr val="2F4A3C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326" y="2897185"/>
            <a:ext cx="368686" cy="36868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3566160"/>
            <a:ext cx="183117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9A7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58368" y="3867912"/>
            <a:ext cx="179460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4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Usrah check-in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85800" y="4434840"/>
            <a:ext cx="1739737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his own week with his Murabbi.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2818729" y="2423160"/>
            <a:ext cx="2014057" cy="3246120"/>
          </a:xfrm>
          <a:prstGeom prst="roundRect">
            <a:avLst>
              <a:gd name="adj" fmla="val 4086"/>
            </a:avLst>
          </a:prstGeom>
          <a:solidFill>
            <a:srgbClr val="FFFFFF"/>
          </a:solidFill>
          <a:ln w="12700">
            <a:solidFill>
              <a:srgbClr val="D8D2C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441710" y="2697480"/>
            <a:ext cx="768096" cy="768096"/>
          </a:xfrm>
          <a:prstGeom prst="ellipse">
            <a:avLst/>
          </a:prstGeom>
          <a:solidFill>
            <a:srgbClr val="9A7B4F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1415" y="2897185"/>
            <a:ext cx="368686" cy="36868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910169" y="3566160"/>
            <a:ext cx="183117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9A7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MORNINGS / WK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2928457" y="3867912"/>
            <a:ext cx="179460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4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Kitab Maftuh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2955889" y="4434840"/>
            <a:ext cx="1739737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Off-site at a council sustainability office.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5088819" y="2423160"/>
            <a:ext cx="2014057" cy="3246120"/>
          </a:xfrm>
          <a:prstGeom prst="roundRect">
            <a:avLst>
              <a:gd name="adj" fmla="val 4086"/>
            </a:avLst>
          </a:prstGeom>
          <a:solidFill>
            <a:srgbClr val="FFFFFF"/>
          </a:solidFill>
          <a:ln w="12700">
            <a:solidFill>
              <a:srgbClr val="D8D2C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711800" y="2697480"/>
            <a:ext cx="768096" cy="768096"/>
          </a:xfrm>
          <a:prstGeom prst="ellipse">
            <a:avLst/>
          </a:prstGeom>
          <a:solidFill>
            <a:srgbClr val="2F4A3C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1505" y="2897185"/>
            <a:ext cx="368686" cy="36868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180259" y="3566160"/>
            <a:ext cx="183117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9A7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JUST-IN-TIME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5198547" y="3867912"/>
            <a:ext cx="179460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4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Manhal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5225979" y="4434840"/>
            <a:ext cx="1739737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heat-transfer &amp; water-cycle nodes when the calcs need them.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7358908" y="2423160"/>
            <a:ext cx="2014057" cy="3246120"/>
          </a:xfrm>
          <a:prstGeom prst="roundRect">
            <a:avLst>
              <a:gd name="adj" fmla="val 4086"/>
            </a:avLst>
          </a:prstGeom>
          <a:solidFill>
            <a:srgbClr val="FFFFFF"/>
          </a:solidFill>
          <a:ln w="12700">
            <a:solidFill>
              <a:srgbClr val="D8D2C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7981889" y="2697480"/>
            <a:ext cx="768096" cy="768096"/>
          </a:xfrm>
          <a:prstGeom prst="ellipse">
            <a:avLst/>
          </a:prstGeom>
          <a:solidFill>
            <a:srgbClr val="2F4A3C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1594" y="2897185"/>
            <a:ext cx="368686" cy="368686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450348" y="3566160"/>
            <a:ext cx="183117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9A7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BOOKED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7468636" y="3867912"/>
            <a:ext cx="179460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4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Tutorial</a:t>
            </a:r>
            <a:endParaRPr lang="en-US" sz="1500" dirty="0"/>
          </a:p>
        </p:txBody>
      </p:sp>
      <p:sp>
        <p:nvSpPr>
          <p:cNvPr id="29" name="Text 23"/>
          <p:cNvSpPr/>
          <p:nvPr/>
        </p:nvSpPr>
        <p:spPr>
          <a:xfrm>
            <a:off x="7496068" y="4434840"/>
            <a:ext cx="1739737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science Guide, on the part he’s stuck on.</a:t>
            </a:r>
            <a:endParaRPr lang="en-US" sz="1150" dirty="0"/>
          </a:p>
        </p:txBody>
      </p:sp>
      <p:sp>
        <p:nvSpPr>
          <p:cNvPr id="30" name="Shape 24"/>
          <p:cNvSpPr/>
          <p:nvPr/>
        </p:nvSpPr>
        <p:spPr>
          <a:xfrm>
            <a:off x="9628998" y="2423160"/>
            <a:ext cx="2014057" cy="3246120"/>
          </a:xfrm>
          <a:prstGeom prst="roundRect">
            <a:avLst>
              <a:gd name="adj" fmla="val 4086"/>
            </a:avLst>
          </a:prstGeom>
          <a:solidFill>
            <a:srgbClr val="FFFFFF"/>
          </a:solidFill>
          <a:ln w="12700">
            <a:solidFill>
              <a:srgbClr val="D8D2C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10251978" y="2697480"/>
            <a:ext cx="768096" cy="768096"/>
          </a:xfrm>
          <a:prstGeom prst="ellipse">
            <a:avLst/>
          </a:prstGeom>
          <a:solidFill>
            <a:srgbClr val="2F4A3C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51683" y="2897185"/>
            <a:ext cx="368686" cy="368686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9720438" y="3566160"/>
            <a:ext cx="183117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9A7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</a:t>
            </a:r>
            <a:endParaRPr lang="en-US" sz="1100" dirty="0"/>
          </a:p>
        </p:txBody>
      </p:sp>
      <p:sp>
        <p:nvSpPr>
          <p:cNvPr id="34" name="Text 27"/>
          <p:cNvSpPr/>
          <p:nvPr/>
        </p:nvSpPr>
        <p:spPr>
          <a:xfrm>
            <a:off x="9738726" y="3867912"/>
            <a:ext cx="179460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4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Writing sprint + 1:1</a:t>
            </a:r>
            <a:endParaRPr lang="en-US" sz="1500" dirty="0"/>
          </a:p>
        </p:txBody>
      </p:sp>
      <p:sp>
        <p:nvSpPr>
          <p:cNvPr id="35" name="Text 28"/>
          <p:cNvSpPr/>
          <p:nvPr/>
        </p:nvSpPr>
        <p:spPr>
          <a:xfrm>
            <a:off x="9766158" y="4434840"/>
            <a:ext cx="1739737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Technical-report sprint; fortnightly deep 1:1 with his Murabbi.</a:t>
            </a:r>
            <a:endParaRPr lang="en-US" sz="1150" dirty="0"/>
          </a:p>
        </p:txBody>
      </p:sp>
      <p:sp>
        <p:nvSpPr>
          <p:cNvPr id="36" name="Shape 29"/>
          <p:cNvSpPr/>
          <p:nvPr/>
        </p:nvSpPr>
        <p:spPr>
          <a:xfrm>
            <a:off x="548640" y="5897880"/>
            <a:ext cx="11094415" cy="548640"/>
          </a:xfrm>
          <a:prstGeom prst="roundRect">
            <a:avLst>
              <a:gd name="adj" fmla="val 13333"/>
            </a:avLst>
          </a:prstGeom>
          <a:solidFill>
            <a:srgbClr val="EFE7D7"/>
          </a:solidFill>
          <a:ln/>
        </p:spPr>
      </p:sp>
      <p:sp>
        <p:nvSpPr>
          <p:cNvPr id="37" name="Text 30"/>
          <p:cNvSpPr/>
          <p:nvPr/>
        </p:nvSpPr>
        <p:spPr>
          <a:xfrm>
            <a:off x="822960" y="5897880"/>
            <a:ext cx="105457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A7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  </a:t>
            </a:r>
            <a:pPr indent="0" marL="0">
              <a:buNone/>
            </a:pPr>
            <a:r>
              <a:rPr lang="en-US" sz="1350" i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 dataset, model, client feedback and reflection on adab all build toward his RoSA.</a:t>
            </a:r>
            <a:endParaRPr lang="en-US" sz="1350" dirty="0"/>
          </a:p>
        </p:txBody>
      </p:sp>
      <p:sp>
        <p:nvSpPr>
          <p:cNvPr id="38" name="Text 31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Itqan Way  ·  Founding Blueprint</a:t>
            </a:r>
            <a:endParaRPr lang="en-US" sz="900" dirty="0"/>
          </a:p>
        </p:txBody>
      </p:sp>
      <p:sp>
        <p:nvSpPr>
          <p:cNvPr id="39" name="Text 32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A7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DAY IN THE LIFE  ·  RIYADAH · LEAD (YEAR 11–12)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4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Mariam — flexibility, with the HSC in 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4415" cy="566928"/>
          </a:xfrm>
          <a:prstGeom prst="roundRect">
            <a:avLst>
              <a:gd name="adj" fmla="val 50000"/>
            </a:avLst>
          </a:prstGeom>
          <a:solidFill>
            <a:srgbClr val="2F4A3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00200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Mariam, Year 12</a:t>
            </a:r>
            <a:pPr indent="0" marL="0">
              <a:buNone/>
            </a:pPr>
            <a:r>
              <a:rPr lang="en-US" sz="1500" dirty="0">
                <a:solidFill>
                  <a:srgbClr val="D7DE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highest flexibility, sustained internship, capstone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423160"/>
            <a:ext cx="2014057" cy="3246120"/>
          </a:xfrm>
          <a:prstGeom prst="roundRect">
            <a:avLst>
              <a:gd name="adj" fmla="val 4086"/>
            </a:avLst>
          </a:prstGeom>
          <a:solidFill>
            <a:srgbClr val="FFFFFF"/>
          </a:solidFill>
          <a:ln w="12700">
            <a:solidFill>
              <a:srgbClr val="D8D2C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171621" y="2697480"/>
            <a:ext cx="768096" cy="768096"/>
          </a:xfrm>
          <a:prstGeom prst="ellipse">
            <a:avLst/>
          </a:prstGeom>
          <a:solidFill>
            <a:srgbClr val="9A7B4F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326" y="2897185"/>
            <a:ext cx="368686" cy="36868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3566160"/>
            <a:ext cx="183117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9A7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DAY / WK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58368" y="3867912"/>
            <a:ext cx="179460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4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Internship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85800" y="4434840"/>
            <a:ext cx="1739737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workplace tasks via Kitab Maftuh.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2818729" y="2423160"/>
            <a:ext cx="2014057" cy="3246120"/>
          </a:xfrm>
          <a:prstGeom prst="roundRect">
            <a:avLst>
              <a:gd name="adj" fmla="val 4086"/>
            </a:avLst>
          </a:prstGeom>
          <a:solidFill>
            <a:srgbClr val="FFFFFF"/>
          </a:solidFill>
          <a:ln w="12700">
            <a:solidFill>
              <a:srgbClr val="D8D2C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441710" y="2697480"/>
            <a:ext cx="768096" cy="768096"/>
          </a:xfrm>
          <a:prstGeom prst="ellipse">
            <a:avLst/>
          </a:prstGeom>
          <a:solidFill>
            <a:srgbClr val="2F4A3C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1415" y="2897185"/>
            <a:ext cx="368686" cy="36868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910169" y="3566160"/>
            <a:ext cx="183117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9A7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SELF-DIRECTED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2928457" y="3867912"/>
            <a:ext cx="179460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4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Manhal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2955889" y="4434840"/>
            <a:ext cx="1739737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most of her own learning.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5088819" y="2423160"/>
            <a:ext cx="2014057" cy="3246120"/>
          </a:xfrm>
          <a:prstGeom prst="roundRect">
            <a:avLst>
              <a:gd name="adj" fmla="val 4086"/>
            </a:avLst>
          </a:prstGeom>
          <a:solidFill>
            <a:srgbClr val="FFFFFF"/>
          </a:solidFill>
          <a:ln w="12700">
            <a:solidFill>
              <a:srgbClr val="D8D2C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711800" y="2697480"/>
            <a:ext cx="768096" cy="768096"/>
          </a:xfrm>
          <a:prstGeom prst="ellipse">
            <a:avLst/>
          </a:prstGeom>
          <a:solidFill>
            <a:srgbClr val="2F4A3C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1505" y="2897185"/>
            <a:ext cx="368686" cy="36868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180259" y="3566160"/>
            <a:ext cx="183117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9A7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5198547" y="3867912"/>
            <a:ext cx="179460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4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HSC sprint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5225979" y="4434840"/>
            <a:ext cx="1739737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Developed Course preparation.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7358908" y="2423160"/>
            <a:ext cx="2014057" cy="3246120"/>
          </a:xfrm>
          <a:prstGeom prst="roundRect">
            <a:avLst>
              <a:gd name="adj" fmla="val 4086"/>
            </a:avLst>
          </a:prstGeom>
          <a:solidFill>
            <a:srgbClr val="FFFFFF"/>
          </a:solidFill>
          <a:ln w="12700">
            <a:solidFill>
              <a:srgbClr val="D8D2C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7981889" y="2697480"/>
            <a:ext cx="768096" cy="768096"/>
          </a:xfrm>
          <a:prstGeom prst="ellipse">
            <a:avLst/>
          </a:prstGeom>
          <a:solidFill>
            <a:srgbClr val="6C7D3C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1594" y="2897185"/>
            <a:ext cx="368686" cy="368686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450348" y="3566160"/>
            <a:ext cx="183117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9A7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TERM-LONG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7468636" y="3867912"/>
            <a:ext cx="179460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4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Riyadah capstone</a:t>
            </a:r>
            <a:endParaRPr lang="en-US" sz="1500" dirty="0"/>
          </a:p>
        </p:txBody>
      </p:sp>
      <p:sp>
        <p:nvSpPr>
          <p:cNvPr id="29" name="Text 23"/>
          <p:cNvSpPr/>
          <p:nvPr/>
        </p:nvSpPr>
        <p:spPr>
          <a:xfrm>
            <a:off x="7496068" y="4434840"/>
            <a:ext cx="1739737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by a Guide + an industry mentor.</a:t>
            </a:r>
            <a:endParaRPr lang="en-US" sz="1150" dirty="0"/>
          </a:p>
        </p:txBody>
      </p:sp>
      <p:sp>
        <p:nvSpPr>
          <p:cNvPr id="30" name="Shape 24"/>
          <p:cNvSpPr/>
          <p:nvPr/>
        </p:nvSpPr>
        <p:spPr>
          <a:xfrm>
            <a:off x="9628998" y="2423160"/>
            <a:ext cx="2014057" cy="3246120"/>
          </a:xfrm>
          <a:prstGeom prst="roundRect">
            <a:avLst>
              <a:gd name="adj" fmla="val 4086"/>
            </a:avLst>
          </a:prstGeom>
          <a:solidFill>
            <a:srgbClr val="FFFFFF"/>
          </a:solidFill>
          <a:ln w="12700">
            <a:solidFill>
              <a:srgbClr val="D8D2C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10251978" y="2697480"/>
            <a:ext cx="768096" cy="768096"/>
          </a:xfrm>
          <a:prstGeom prst="ellipse">
            <a:avLst/>
          </a:prstGeom>
          <a:solidFill>
            <a:srgbClr val="2F4A3C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51683" y="2897185"/>
            <a:ext cx="368686" cy="368686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9720438" y="3566160"/>
            <a:ext cx="183117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9A7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FORTNIGHTLY</a:t>
            </a:r>
            <a:endParaRPr lang="en-US" sz="1100" dirty="0"/>
          </a:p>
        </p:txBody>
      </p:sp>
      <p:sp>
        <p:nvSpPr>
          <p:cNvPr id="34" name="Text 27"/>
          <p:cNvSpPr/>
          <p:nvPr/>
        </p:nvSpPr>
        <p:spPr>
          <a:xfrm>
            <a:off x="9738726" y="3867912"/>
            <a:ext cx="179460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4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Usrah + 1:1</a:t>
            </a:r>
            <a:endParaRPr lang="en-US" sz="1500" dirty="0"/>
          </a:p>
        </p:txBody>
      </p:sp>
      <p:sp>
        <p:nvSpPr>
          <p:cNvPr id="35" name="Text 28"/>
          <p:cNvSpPr/>
          <p:nvPr/>
        </p:nvSpPr>
        <p:spPr>
          <a:xfrm>
            <a:off x="9766158" y="4434840"/>
            <a:ext cx="1739737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Coaching on pace, HSC and capstone.</a:t>
            </a:r>
            <a:endParaRPr lang="en-US" sz="1150" dirty="0"/>
          </a:p>
        </p:txBody>
      </p:sp>
      <p:sp>
        <p:nvSpPr>
          <p:cNvPr id="36" name="Shape 29"/>
          <p:cNvSpPr/>
          <p:nvPr/>
        </p:nvSpPr>
        <p:spPr>
          <a:xfrm>
            <a:off x="548640" y="5897880"/>
            <a:ext cx="11094415" cy="548640"/>
          </a:xfrm>
          <a:prstGeom prst="roundRect">
            <a:avLst>
              <a:gd name="adj" fmla="val 13333"/>
            </a:avLst>
          </a:prstGeom>
          <a:solidFill>
            <a:srgbClr val="EFE7D7"/>
          </a:solidFill>
          <a:ln/>
        </p:spPr>
      </p:sp>
      <p:sp>
        <p:nvSpPr>
          <p:cNvPr id="37" name="Text 30"/>
          <p:cNvSpPr/>
          <p:nvPr/>
        </p:nvSpPr>
        <p:spPr>
          <a:xfrm>
            <a:off x="822960" y="5897880"/>
            <a:ext cx="105457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A7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  </a:t>
            </a:r>
            <a:pPr indent="0" marL="0">
              <a:buNone/>
            </a:pPr>
            <a:r>
              <a:rPr lang="en-US" sz="1350" i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sits the HSC AND graduates with an Athar portfolio and a real professional reference — a young leader, ready to serve.</a:t>
            </a:r>
            <a:endParaRPr lang="en-US" sz="1350" dirty="0"/>
          </a:p>
        </p:txBody>
      </p:sp>
      <p:sp>
        <p:nvSpPr>
          <p:cNvPr id="38" name="Text 31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Itqan Way  ·  Founding Blueprint</a:t>
            </a:r>
            <a:endParaRPr lang="en-US" sz="900" dirty="0"/>
          </a:p>
        </p:txBody>
      </p:sp>
      <p:sp>
        <p:nvSpPr>
          <p:cNvPr id="39" name="Text 32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A7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PROOF  ·  A REAL ’AMAL PROJECT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4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“The Cool Courtyard”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6583680" cy="4023360"/>
          </a:xfrm>
          <a:prstGeom prst="roundRect">
            <a:avLst>
              <a:gd name="adj" fmla="val 2273"/>
            </a:avLst>
          </a:prstGeom>
          <a:solidFill>
            <a:srgbClr val="F1F3EE"/>
          </a:solidFill>
          <a:ln w="12700">
            <a:solidFill>
              <a:srgbClr val="D8D2C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05740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4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brief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2514600"/>
            <a:ext cx="5989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passive-cooling, water-wise courtyard — and an ablution-water re-use concept — for a partner community mosque.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3657600"/>
            <a:ext cx="5989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6B7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to </a:t>
            </a:r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mosque committee and a council sustainability officer.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5212080"/>
            <a:ext cx="5989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A7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term  ·  cross-disciplinary  ·  public Majlis exhibition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406640" y="1828800"/>
            <a:ext cx="420624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D8D2C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589520" y="2121408"/>
            <a:ext cx="603504" cy="603504"/>
          </a:xfrm>
          <a:prstGeom prst="ellipse">
            <a:avLst/>
          </a:prstGeom>
          <a:solidFill>
            <a:srgbClr val="6C7D3C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46431" y="2278319"/>
            <a:ext cx="289682" cy="28968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412480" y="208483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4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client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412480" y="245059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genuine community need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7406640" y="3200400"/>
            <a:ext cx="420624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D8D2C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7589520" y="3493008"/>
            <a:ext cx="603504" cy="603504"/>
          </a:xfrm>
          <a:prstGeom prst="ellipse">
            <a:avLst/>
          </a:prstGeom>
          <a:solidFill>
            <a:srgbClr val="B26540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6431" y="3649919"/>
            <a:ext cx="289682" cy="28968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8412480" y="345643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4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consequence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8412480" y="382219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ilm naafiʼ — beneficial knowledge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7406640" y="4572000"/>
            <a:ext cx="420624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D8D2C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7589520" y="4864608"/>
            <a:ext cx="603504" cy="603504"/>
          </a:xfrm>
          <a:prstGeom prst="ellipse">
            <a:avLst/>
          </a:prstGeom>
          <a:solidFill>
            <a:srgbClr val="9A7B4F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6431" y="5021519"/>
            <a:ext cx="289682" cy="28968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412480" y="482803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4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partners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8412480" y="519379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&amp; community as co-designers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Itqan Way  ·  Founding Blueprint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A7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COOL COURTYARD, MAPPED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4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Nothing falls through the cracks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200400"/>
                <a:gridCol w="2697480"/>
                <a:gridCol w="1234440"/>
                <a:gridCol w="2130552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/ weeks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4A3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Knowledge pulled (just-in-time)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4A3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Artefact (evidence)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4A3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Bloom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4A3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NESA areas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4A3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F4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Empathise (1–2)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brief; sustainability; urban heat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Brief &amp; needs analysis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Understand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English; Geography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F4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Investigate (2–4)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measurement; scale drawing; data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 dataset + scaled plan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Maths; Science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F4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Sprint (4–6)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heat transfer; water cycle; cooling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Thermal &amp; water calcs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Science; Maths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F4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Prototype (6–8)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 thinking; materials; CAD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 + model; costed proposal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 &amp; Tech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F4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Communicate (8–9)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 structure; oracy; data viz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 + client pitch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F4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Majlis (10)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synthesis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Exhibition + reflection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Cross-KLA; values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3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897880"/>
            <a:ext cx="11094415" cy="548640"/>
          </a:xfrm>
          <a:prstGeom prst="roundRect">
            <a:avLst>
              <a:gd name="adj" fmla="val 13333"/>
            </a:avLst>
          </a:prstGeom>
          <a:solidFill>
            <a:srgbClr val="EFE7D7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5897880"/>
            <a:ext cx="105457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A7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  </a:t>
            </a:r>
            <a:pPr indent="0" marL="0">
              <a:buNone/>
            </a:pPr>
            <a:r>
              <a:rPr lang="en-US" sz="1350" i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arrives exactly when it is needed — and every artefact is traceable to a mandatory NESA outcome.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Itqan Way  ·  Founding Blueprint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A7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STAYS SAFE TO BACK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4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Rigorous and registrable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64328" cy="1783080"/>
          </a:xfrm>
          <a:prstGeom prst="roundRect">
            <a:avLst>
              <a:gd name="adj" fmla="val 4615"/>
            </a:avLst>
          </a:prstGeom>
          <a:solidFill>
            <a:srgbClr val="F1F3EE"/>
          </a:solidFill>
          <a:ln w="12700">
            <a:solidFill>
              <a:srgbClr val="D8D2C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67128"/>
            <a:ext cx="731520" cy="731520"/>
          </a:xfrm>
          <a:prstGeom prst="ellipse">
            <a:avLst/>
          </a:prstGeom>
          <a:solidFill>
            <a:srgbClr val="2F4A3C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155" y="2357323"/>
            <a:ext cx="351130" cy="3511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130552"/>
            <a:ext cx="3947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4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Manhal IS the curriculum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737360" y="2697480"/>
            <a:ext cx="39470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Explicit, knowledge-rich content — not ‘soft on knowledge’. Simply made navigable and mastery-gated.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78728" y="1874520"/>
            <a:ext cx="5364328" cy="1783080"/>
          </a:xfrm>
          <a:prstGeom prst="roundRect">
            <a:avLst>
              <a:gd name="adj" fmla="val 4615"/>
            </a:avLst>
          </a:prstGeom>
          <a:solidFill>
            <a:srgbClr val="F1F3EE"/>
          </a:solidFill>
          <a:ln w="12700">
            <a:solidFill>
              <a:srgbClr val="D8D2C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53048" y="2167128"/>
            <a:ext cx="731520" cy="731520"/>
          </a:xfrm>
          <a:prstGeom prst="ellipse">
            <a:avLst/>
          </a:prstGeom>
          <a:solidFill>
            <a:srgbClr val="6C7D3C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3243" y="2357323"/>
            <a:ext cx="351130" cy="35113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67448" y="2130552"/>
            <a:ext cx="3947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C7D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coverage audit = no gaps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467448" y="2697480"/>
            <a:ext cx="39470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mandatory outcome maps to a node and a portfolio point; an automated audit flags anything unscheduled.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48640" y="3840480"/>
            <a:ext cx="5364328" cy="1783080"/>
          </a:xfrm>
          <a:prstGeom prst="roundRect">
            <a:avLst>
              <a:gd name="adj" fmla="val 4615"/>
            </a:avLst>
          </a:prstGeom>
          <a:solidFill>
            <a:srgbClr val="F1F3EE"/>
          </a:solidFill>
          <a:ln w="12700">
            <a:solidFill>
              <a:srgbClr val="D8D2C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4133088"/>
            <a:ext cx="731520" cy="731520"/>
          </a:xfrm>
          <a:prstGeom prst="ellipse">
            <a:avLst/>
          </a:prstGeom>
          <a:solidFill>
            <a:srgbClr val="9A7B4F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155" y="4323283"/>
            <a:ext cx="351130" cy="35113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37360" y="4096512"/>
            <a:ext cx="3947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A7B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Athar portfolio = the audit trail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737360" y="4663440"/>
            <a:ext cx="39470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cleanest evidence a NESA inspection can be given — stronger than a timetable.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278728" y="3840480"/>
            <a:ext cx="5364328" cy="1783080"/>
          </a:xfrm>
          <a:prstGeom prst="roundRect">
            <a:avLst>
              <a:gd name="adj" fmla="val 4615"/>
            </a:avLst>
          </a:prstGeom>
          <a:solidFill>
            <a:srgbClr val="F1F3EE"/>
          </a:solidFill>
          <a:ln w="12700">
            <a:solidFill>
              <a:srgbClr val="D8D2C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53048" y="4133088"/>
            <a:ext cx="731520" cy="731520"/>
          </a:xfrm>
          <a:prstGeom prst="ellipse">
            <a:avLst/>
          </a:prstGeom>
          <a:solidFill>
            <a:srgbClr val="B26540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3243" y="4323283"/>
            <a:ext cx="351130" cy="35113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67448" y="4096512"/>
            <a:ext cx="3947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26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Honest on exams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7467448" y="4663440"/>
            <a:ext cx="39470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formal exams in Stages 4–5 (RoSA). HSC external exams are still sat in Stage 6 — wrapped inside Riyadah projects.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Itqan Way  ·  Founding Blueprint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A7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MOVE THAT DE-RISKS EVERYTHING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4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 small, prove, scale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2F4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 with Year 7 only — then add one year-level a year.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3840480"/>
            <a:ext cx="1143000" cy="640080"/>
          </a:xfrm>
          <a:prstGeom prst="roundRect">
            <a:avLst>
              <a:gd name="adj" fmla="val 8571"/>
            </a:avLst>
          </a:prstGeom>
          <a:solidFill>
            <a:srgbClr val="2F4A3C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3456432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4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Y7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452628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Yr 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38923" y="3547872"/>
            <a:ext cx="1143000" cy="932688"/>
          </a:xfrm>
          <a:prstGeom prst="roundRect">
            <a:avLst>
              <a:gd name="adj" fmla="val 5882"/>
            </a:avLst>
          </a:prstGeom>
          <a:solidFill>
            <a:srgbClr val="6C7D3C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38923" y="3163824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4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+Y8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538923" y="452628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Yr 2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29206" y="3255264"/>
            <a:ext cx="1143000" cy="1225296"/>
          </a:xfrm>
          <a:prstGeom prst="roundRect">
            <a:avLst>
              <a:gd name="adj" fmla="val 4800"/>
            </a:avLst>
          </a:prstGeom>
          <a:solidFill>
            <a:srgbClr val="6C7D3C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29206" y="2871216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4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+Y9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29206" y="452628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Yr 3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519489" y="2962656"/>
            <a:ext cx="1143000" cy="1517904"/>
          </a:xfrm>
          <a:prstGeom prst="roundRect">
            <a:avLst>
              <a:gd name="adj" fmla="val 4800"/>
            </a:avLst>
          </a:prstGeom>
          <a:solidFill>
            <a:srgbClr val="6C7D3C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19489" y="2578608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4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+Y10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19489" y="452628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Yr 4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509772" y="2670048"/>
            <a:ext cx="1143000" cy="1810512"/>
          </a:xfrm>
          <a:prstGeom prst="roundRect">
            <a:avLst>
              <a:gd name="adj" fmla="val 4800"/>
            </a:avLst>
          </a:prstGeom>
          <a:solidFill>
            <a:srgbClr val="6C7D3C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509772" y="22860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4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+Y11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509772" y="452628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Yr 5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0500055" y="2377440"/>
            <a:ext cx="1143000" cy="2103120"/>
          </a:xfrm>
          <a:prstGeom prst="roundRect">
            <a:avLst>
              <a:gd name="adj" fmla="val 4800"/>
            </a:avLst>
          </a:prstGeom>
          <a:solidFill>
            <a:srgbClr val="9A7B4F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0500055" y="1993392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4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+Y12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500055" y="452628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Yr 6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5074920"/>
            <a:ext cx="6766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Defers HSC accreditation ~4–5 years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smaller Year-1 tree, team and capital outlay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prove the model on a small cohort before scaling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7680960" y="5029200"/>
            <a:ext cx="3931920" cy="1234440"/>
          </a:xfrm>
          <a:prstGeom prst="roundRect">
            <a:avLst>
              <a:gd name="adj" fmla="val 7407"/>
            </a:avLst>
          </a:prstGeom>
          <a:solidFill>
            <a:srgbClr val="2F4A3C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909560" y="5029200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“Open one year group well — not a whole school.”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Itqan Way  ·  Founding Blueprint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F4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206240"/>
            <a:ext cx="4572000" cy="4572000"/>
          </a:xfrm>
          <a:prstGeom prst="ellipse">
            <a:avLst/>
          </a:prstGeom>
          <a:solidFill>
            <a:srgbClr val="6C7D3C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7D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GRADUATE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deep generalist — capable and grounded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713232" cy="713232"/>
          </a:xfrm>
          <a:prstGeom prst="ellipse">
            <a:avLst/>
          </a:prstGeom>
          <a:solidFill>
            <a:srgbClr val="9A7B4F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4080" y="2242840"/>
            <a:ext cx="342351" cy="34235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209397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Scholar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417320" y="2459736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9D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ilm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160520" y="2057400"/>
            <a:ext cx="713232" cy="713232"/>
          </a:xfrm>
          <a:prstGeom prst="ellipse">
            <a:avLst/>
          </a:prstGeom>
          <a:solidFill>
            <a:srgbClr val="9A7B4F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5960" y="2242840"/>
            <a:ext cx="342351" cy="34235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029200" y="209397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Maker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5029200" y="2459736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9D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problem-solver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7772400" y="2057400"/>
            <a:ext cx="713232" cy="713232"/>
          </a:xfrm>
          <a:prstGeom prst="ellipse">
            <a:avLst/>
          </a:prstGeom>
          <a:solidFill>
            <a:srgbClr val="9A7B4F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7840" y="2242840"/>
            <a:ext cx="342351" cy="34235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641080" y="209397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Steward</a:t>
            </a:r>
            <a:endParaRPr lang="en-US" sz="1700" dirty="0"/>
          </a:p>
        </p:txBody>
      </p:sp>
      <p:sp>
        <p:nvSpPr>
          <p:cNvPr id="16" name="Text 11"/>
          <p:cNvSpPr/>
          <p:nvPr/>
        </p:nvSpPr>
        <p:spPr>
          <a:xfrm>
            <a:off x="8641080" y="2459736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9D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amanah · adab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548640" y="3200400"/>
            <a:ext cx="713232" cy="713232"/>
          </a:xfrm>
          <a:prstGeom prst="ellipse">
            <a:avLst/>
          </a:prstGeom>
          <a:solidFill>
            <a:srgbClr val="9A7B4F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080" y="3385840"/>
            <a:ext cx="342351" cy="342351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417320" y="323697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Communicator</a:t>
            </a:r>
            <a:endParaRPr lang="en-US" sz="1700" dirty="0"/>
          </a:p>
        </p:txBody>
      </p:sp>
      <p:sp>
        <p:nvSpPr>
          <p:cNvPr id="20" name="Text 14"/>
          <p:cNvSpPr/>
          <p:nvPr/>
        </p:nvSpPr>
        <p:spPr>
          <a:xfrm>
            <a:off x="1417320" y="3602736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9D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oracy &amp; writing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4160520" y="3200400"/>
            <a:ext cx="713232" cy="713232"/>
          </a:xfrm>
          <a:prstGeom prst="ellipse">
            <a:avLst/>
          </a:prstGeom>
          <a:solidFill>
            <a:srgbClr val="9A7B4F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5960" y="3385840"/>
            <a:ext cx="342351" cy="342351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029200" y="323697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Self-directed</a:t>
            </a:r>
            <a:endParaRPr lang="en-US" sz="1700" dirty="0"/>
          </a:p>
        </p:txBody>
      </p:sp>
      <p:sp>
        <p:nvSpPr>
          <p:cNvPr id="24" name="Text 17"/>
          <p:cNvSpPr/>
          <p:nvPr/>
        </p:nvSpPr>
        <p:spPr>
          <a:xfrm>
            <a:off x="5029200" y="3602736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9D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metacognition</a:t>
            </a:r>
            <a:endParaRPr lang="en-US" sz="1250" dirty="0"/>
          </a:p>
        </p:txBody>
      </p:sp>
      <p:sp>
        <p:nvSpPr>
          <p:cNvPr id="25" name="Shape 18"/>
          <p:cNvSpPr/>
          <p:nvPr/>
        </p:nvSpPr>
        <p:spPr>
          <a:xfrm>
            <a:off x="7772400" y="3200400"/>
            <a:ext cx="713232" cy="713232"/>
          </a:xfrm>
          <a:prstGeom prst="ellipse">
            <a:avLst/>
          </a:prstGeom>
          <a:solidFill>
            <a:srgbClr val="9A7B4F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7840" y="3385840"/>
            <a:ext cx="342351" cy="342351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8641080" y="323697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Person of character</a:t>
            </a:r>
            <a:endParaRPr lang="en-US" sz="1700" dirty="0"/>
          </a:p>
        </p:txBody>
      </p:sp>
      <p:sp>
        <p:nvSpPr>
          <p:cNvPr id="28" name="Text 20"/>
          <p:cNvSpPr/>
          <p:nvPr/>
        </p:nvSpPr>
        <p:spPr>
          <a:xfrm>
            <a:off x="8641080" y="3602736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9D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Tarbiyah</a:t>
            </a:r>
            <a:endParaRPr lang="en-US" sz="1250" dirty="0"/>
          </a:p>
        </p:txBody>
      </p:sp>
      <p:sp>
        <p:nvSpPr>
          <p:cNvPr id="29" name="Shape 21"/>
          <p:cNvSpPr/>
          <p:nvPr/>
        </p:nvSpPr>
        <p:spPr>
          <a:xfrm>
            <a:off x="548640" y="4892040"/>
            <a:ext cx="11064240" cy="0"/>
          </a:xfrm>
          <a:prstGeom prst="line">
            <a:avLst/>
          </a:prstGeom>
          <a:noFill/>
          <a:ln w="19050">
            <a:solidFill>
              <a:srgbClr val="9A7B4F"/>
            </a:solidFill>
            <a:prstDash val="solid"/>
          </a:ln>
        </p:spPr>
      </p:sp>
      <p:sp>
        <p:nvSpPr>
          <p:cNvPr id="30" name="Text 22"/>
          <p:cNvSpPr/>
          <p:nvPr/>
        </p:nvSpPr>
        <p:spPr>
          <a:xfrm>
            <a:off x="548640" y="507492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i="1" dirty="0">
                <a:solidFill>
                  <a:srgbClr val="EAE3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have built and run this — at Charles Sturt, UniSA and UTS. What I bring is the rare combination of having built the architecture, and being able to anchor it in why we educate at all.</a:t>
            </a:r>
            <a:endParaRPr lang="en-US" sz="1700" dirty="0"/>
          </a:p>
        </p:txBody>
      </p:sp>
      <p:sp>
        <p:nvSpPr>
          <p:cNvPr id="31" name="Text 23"/>
          <p:cNvSpPr/>
          <p:nvPr/>
        </p:nvSpPr>
        <p:spPr>
          <a:xfrm>
            <a:off x="548640" y="6263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Khaled Altarawneh</a:t>
            </a:r>
            <a:pPr indent="0" marL="0">
              <a:buNone/>
            </a:pPr>
            <a:r>
              <a:rPr lang="en-US" sz="1400" dirty="0">
                <a:solidFill>
                  <a:srgbClr val="C9D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Head of School (Founding Appointment)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Itqan Way</dc:title>
  <dc:subject>PptxGenJS Presentation</dc:subject>
  <dc:creator>Dr Khaled Altarawneh</dc:creator>
  <cp:lastModifiedBy>Dr Khaled Altarawneh</cp:lastModifiedBy>
  <cp:revision>1</cp:revision>
  <dcterms:created xsi:type="dcterms:W3CDTF">2026-05-29T03:50:49Z</dcterms:created>
  <dcterms:modified xsi:type="dcterms:W3CDTF">2026-05-29T03:50:49Z</dcterms:modified>
</cp:coreProperties>
</file>